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E3A5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VGGNet</c:v>
                </c:pt>
                <c:pt idx="1">
                  <c:v>AlexNet</c:v>
                </c:pt>
                <c:pt idx="2">
                  <c:v>ResNet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95.44</c:v>
                </c:pt>
                <c:pt idx="1">
                  <c:v>94.32</c:v>
                </c:pt>
                <c:pt idx="2">
                  <c:v>33.159999999999997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0A-4023-8435-A5DD69FAE2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B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83AC6-F0A0-435A-88F4-C25A8325251D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BA90B-1209-4382-9450-1F05412C89F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2776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47A34-70ED-7C0B-18A7-12A0A044C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7D903-1C1A-1841-5694-35A166074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34403-847D-38B3-AD55-7AE678A8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C2FAC-DE8D-1B61-AFE8-0B57E740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C5D4C-65E9-8C41-229D-7958FEEF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74989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0541-80BC-EB70-E099-7AD7B91B4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71316-9892-85FA-CF9D-8D6080378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2FC57-6390-F69B-4EE1-2F146195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2DBC4-B4C6-47AC-8701-0D4ABD83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87B46-4F2D-D3AD-3656-8976E324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089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7344-634B-9C63-D4D6-395F9A05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F5886-F2CD-0B95-137C-CC9FCCEAB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934D0-96FF-BB92-1C1F-1C37D0D8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23DB2-D1C4-DDCA-E369-24C54DB4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B85EC-23F5-CFD9-D74D-55A654BB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34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C3FC-0606-5F1F-CFBA-4156BDB2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F5AD-77D9-6187-6550-A79A815F4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4DE58-F15B-14EE-F5BF-AC3DE71F5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81A6F-0E7C-96A7-EF1C-03164F53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9D005-4055-7899-0A9A-0AC53B9D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E22F3-B243-60A1-312F-EED5BBCEF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4289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CBA9-AEDC-5A96-3496-92270073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8C758-C800-BD56-A535-10259DB09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A2D77-79D3-DBBA-B539-CB3D56D60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161D60-5012-1F61-C9B3-2876FA77B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F57AC4-7CEB-F0BE-121A-E6E8569CD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FD8B6-C114-D751-166C-DFB2264AD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95C952-0A9D-9F70-7ED1-1A80B544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C0233-F671-A984-9561-3943CDCE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7138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0DF1-BF84-EEDF-C07D-A43CCA55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8E35-4D5E-4FB8-5EF3-B2A2225B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84473-FA8A-38CB-54A0-AE940113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E630B-9081-D514-0012-45EECFC9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1766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A98E7-2ED7-4AA0-9517-EC354F3D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31868-8EB9-8EB7-8A26-86FFA1D9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BC31A-0705-0FC7-09F0-5CC76550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097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F928-4FBF-A21A-71B8-E30107A46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A19C-186C-9A41-2494-32A10D488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F759C-8294-249C-3077-A500D9F2D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3F7DE-74E8-9160-81AF-D3B46FAF3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75166-0F2C-CAA3-F298-EA97C1877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2B615-42F3-4FB1-46DB-11FD3B9E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798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990F-3396-0817-5C2B-CFDBE1B0D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24C38B-E286-CE0B-9414-600C5D31E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27759-2472-C3CA-2782-C1981372D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37A1E-6F94-FA0D-3FE9-AEE5F762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A813C-5BE8-5CA7-2FEE-8C149AD0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C5D71-7E67-E109-DAC8-C1A37449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0832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EF35-0FD5-F312-5A49-39704E1A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C9206-48E3-B295-7FCD-9AFB98271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6860F-B1BB-CD1B-E0EB-2313682C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041B5-55D9-B4B4-2120-6658FA83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C5B8B-C264-8C1C-E042-3CDA4DAB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0807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0CE24-DD5A-FE42-4CE3-0C6CE06F9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3CAD7-ECDC-4848-8387-4A33B798A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6E3D-BE32-B956-6D32-39164D02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DBC08-F5CF-ED17-286B-8B27043F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7B127-71A5-2177-4979-D2C060D1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402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76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1C097-4870-869A-0283-5D7E93AA3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94A44-0401-7167-2836-94E534644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3C8D0-781E-E0B6-F37C-F03E50712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AC9F3-366C-411C-BB35-A17A13CCCCDA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7B155-5CF3-EB3F-1038-A340B8F10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69371-0D53-C075-1AC6-0BAC66D1A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C252D-FBB9-4FA3-832F-FA83A22895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228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GTDBRtyNb0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Nasir-AhmadZ/Driver-Analysis-ML-Model" TargetMode="External"/><Relationship Id="rId5" Type="http://schemas.openxmlformats.org/officeDocument/2006/relationships/hyperlink" Target="https://github.com/Nasir-AhmadZ/FacialVerificationML" TargetMode="External"/><Relationship Id="rId4" Type="http://schemas.openxmlformats.org/officeDocument/2006/relationships/hyperlink" Target="https://github.com/Nasir-AhmadZ/Dash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4350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6705432" y="0"/>
            <a:ext cx="2194505" cy="5143500"/>
          </a:xfrm>
          <a:prstGeom prst="rect">
            <a:avLst/>
          </a:prstGeom>
          <a:solidFill>
            <a:srgbClr val="1A5A7A">
              <a:alpha val="25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486263" y="-1371600"/>
            <a:ext cx="6705432" cy="7543800"/>
          </a:xfrm>
          <a:prstGeom prst="ellipse">
            <a:avLst/>
          </a:prstGeom>
          <a:solidFill>
            <a:srgbClr val="2C6E8E">
              <a:alpha val="12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RoadRank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Demo  ·  Driver Behaviour FYP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5577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Nasir Ahmad — G00419630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Engineering (Honours) in Software and Electronic Engineering · Atlantic Technological University · 2025/2026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8046519" y="0"/>
            <a:ext cx="1584920" cy="1417320"/>
          </a:xfrm>
          <a:prstGeom prst="rect">
            <a:avLst/>
          </a:prstGeom>
          <a:solidFill>
            <a:srgbClr val="1A5A7A">
              <a:alpha val="40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1153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E3A52"/>
                </a:solidFill>
              </a:rPr>
              <a:t>What RoadRank is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An edge-based driver monitoring system that detects unsafe driving in real time and gamifies safer driving through a leaderboard.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E3A52"/>
                </a:solidFill>
              </a:rPr>
              <a:t>Semester 1 - Research and models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Trained the behaviour classifier (VGGNet, AlexNet, ResNet) and the Siamese facial verification model in Google Colab and Jupyter.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C9A4F-2287-D625-DEB3-B21A058B9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4039125"/>
            <a:ext cx="1509975" cy="2681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8046519" y="0"/>
            <a:ext cx="1584920" cy="1417320"/>
          </a:xfrm>
          <a:prstGeom prst="rect">
            <a:avLst/>
          </a:prstGeom>
          <a:solidFill>
            <a:srgbClr val="1A5A7A">
              <a:alpha val="40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Diagram</a:t>
            </a:r>
            <a:endParaRPr lang="en-US" sz="4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CCBA66E-B64E-D8D9-A00B-5FD3C43F4B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1" r="961" b="1616"/>
          <a:stretch>
            <a:fillRect/>
          </a:stretch>
        </p:blipFill>
        <p:spPr bwMode="auto">
          <a:xfrm>
            <a:off x="1270353" y="1417320"/>
            <a:ext cx="9651294" cy="54406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8F6BB3-F8D0-C274-24C8-AEC4F02926EB}"/>
              </a:ext>
            </a:extLst>
          </p:cNvPr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B37E0B1-8404-6500-AF66-E7B6CAD377FA}"/>
              </a:ext>
            </a:extLst>
          </p:cNvPr>
          <p:cNvSpPr/>
          <p:nvPr/>
        </p:nvSpPr>
        <p:spPr>
          <a:xfrm>
            <a:off x="502920" y="228600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Timeline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9D2FE-FEDC-2523-670A-8DB0146AB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3" b="2117"/>
          <a:stretch>
            <a:fillRect/>
          </a:stretch>
        </p:blipFill>
        <p:spPr>
          <a:xfrm>
            <a:off x="1224643" y="1417321"/>
            <a:ext cx="9742562" cy="54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9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-1097280" y="914400"/>
            <a:ext cx="5120640" cy="5120640"/>
          </a:xfrm>
          <a:prstGeom prst="ellipse">
            <a:avLst/>
          </a:prstGeom>
          <a:solidFill>
            <a:srgbClr val="2C6E8E">
              <a:alpha val="12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Camera Server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 machine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threading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434840" y="1463040"/>
            <a:ext cx="640080" cy="640080"/>
          </a:xfrm>
          <a:prstGeom prst="ellipse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0" y="14173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E3A52"/>
                </a:solidFill>
              </a:rPr>
              <a:t>unverified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Initial state. The first captured frame triggers start_verify, and the machine moves to verifying.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34840" y="2468880"/>
            <a:ext cx="640080" cy="640080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44348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242316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E3A52"/>
                </a:solidFill>
              </a:rPr>
              <a:t>verifying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Each frame is preprocessed and compared against the user's stored faces using the Siamese L1 model. On match -&gt; verify_success.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34840" y="347472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44348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34290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E3A52"/>
                </a:solidFill>
              </a:rPr>
              <a:t>verified</a:t>
            </a:r>
            <a:endParaRPr lang="en-US" sz="2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Behaviour classification runs on every other frame. A 5-frame agreement buffer debounces noisy predictions before logging.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34840" y="4983480"/>
            <a:ext cx="7223760" cy="132588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4599432" y="5074920"/>
            <a:ext cx="6903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</a:rPr>
              <a:t>Why a single-worker, slot-based handoff?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</a:rPr>
              <a:t>Capture loop overwrites a single pending frame and signals an event. The worker drains it, runs the model, repeats. Stale frames are dropped, threads never accumulate, the Pi stays responsive.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8046519" y="0"/>
            <a:ext cx="1584920" cy="1417320"/>
          </a:xfrm>
          <a:prstGeom prst="rect">
            <a:avLst/>
          </a:prstGeom>
          <a:solidFill>
            <a:srgbClr val="1A5A7A">
              <a:alpha val="40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Facial Verification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057400" cy="7315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Module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24328" y="2651760"/>
            <a:ext cx="16459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2807208" y="2011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Shape 9"/>
          <p:cNvSpPr/>
          <p:nvPr/>
        </p:nvSpPr>
        <p:spPr>
          <a:xfrm>
            <a:off x="2807208" y="2011680"/>
            <a:ext cx="2057400" cy="7315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2898648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98648" y="25786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100x100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0–1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82896" y="2651760"/>
            <a:ext cx="16459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5065776" y="2011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5065776" y="2011680"/>
            <a:ext cx="2057400" cy="73152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5157216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57216" y="25786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tower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4096-d vector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41464" y="2651760"/>
            <a:ext cx="16459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7324344" y="2011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7324344" y="2011680"/>
            <a:ext cx="2057400" cy="7315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7415784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distance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15784" y="25786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faces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00032" y="2651760"/>
            <a:ext cx="164592" cy="0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9582912" y="2011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9582912" y="2011680"/>
            <a:ext cx="2057400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9674352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74352" y="257860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&gt;50% agreement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verified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3657600" cy="210312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502920" y="3931920"/>
            <a:ext cx="91440" cy="210312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/>
          <p:nvPr/>
        </p:nvSpPr>
        <p:spPr>
          <a:xfrm>
            <a:off x="7315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reference frames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44348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pulls 1 frame every 0.33s from the user's setup video, capped at 50, into application_data/verification_images/&lt;user&gt;/.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89120" y="3931920"/>
            <a:ext cx="3657600" cy="210312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4389120" y="3931920"/>
            <a:ext cx="91440" cy="21031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/>
          <p:nvPr/>
        </p:nvSpPr>
        <p:spPr>
          <a:xfrm>
            <a:off x="46177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by expected user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17720" y="44348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username is supplied, the Pi only compares against that user's folder verification falls from seconds to a fraction of a second.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75320" y="3931920"/>
            <a:ext cx="3657600" cy="210312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8275320" y="3931920"/>
            <a:ext cx="91440" cy="2103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/>
          <p:nvPr/>
        </p:nvSpPr>
        <p:spPr>
          <a:xfrm>
            <a:off x="85039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03920" y="44348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per-frame and 0.5 aggregate match thresholds tuned for real-world lighting on the Pi camera, not lab conditions.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-1097280" y="914400"/>
            <a:ext cx="5120640" cy="5120640"/>
          </a:xfrm>
          <a:prstGeom prst="ellipse">
            <a:avLst/>
          </a:prstGeom>
          <a:solidFill>
            <a:srgbClr val="2C6E8E">
              <a:alpha val="12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Behaviour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classification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debouncing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43484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scoring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3657600" cy="457200"/>
          </a:xfrm>
          <a:prstGeom prst="rect">
            <a:avLst/>
          </a:prstGeom>
          <a:solidFill>
            <a:srgbClr val="F2F5F8"/>
          </a:solidFill>
          <a:ln w="635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4434840" y="1280160"/>
            <a:ext cx="109728" cy="4572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46177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1280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109728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34840" y="2286000"/>
            <a:ext cx="3657600" cy="457200"/>
          </a:xfrm>
          <a:prstGeom prst="rect">
            <a:avLst/>
          </a:prstGeom>
          <a:solidFill>
            <a:srgbClr val="F2F5F8"/>
          </a:solidFill>
          <a:ln w="635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4434840" y="2286000"/>
            <a:ext cx="109728" cy="457200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4840" y="278892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434840" y="2788920"/>
            <a:ext cx="109728" cy="4572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46177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34840" y="3291840"/>
            <a:ext cx="3657600" cy="457200"/>
          </a:xfrm>
          <a:prstGeom prst="rect">
            <a:avLst/>
          </a:prstGeom>
          <a:solidFill>
            <a:srgbClr val="F2F5F8"/>
          </a:solidFill>
          <a:ln w="635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4434840" y="3291840"/>
            <a:ext cx="109728" cy="45720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46177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58200" y="1234440"/>
            <a:ext cx="3246120" cy="260604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8595360" y="132588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3A52"/>
                </a:solidFill>
              </a:rPr>
              <a:t>5-frame agreement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</a:rPr>
              <a:t>An event is only logged when the last 5 predictions all agree — and only if the label is new. Cuts noise drastically: a one-second commitment gate.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434840" y="4846320"/>
            <a:ext cx="7269480" cy="146304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/>
          <p:nvPr/>
        </p:nvSpPr>
        <p:spPr>
          <a:xfrm>
            <a:off x="4617720" y="4937760"/>
            <a:ext cx="6903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Throughput on the Pi 5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~10 fps capture, classification on every other frame (~5 Hz inference) - best-effort alert posted to Express on a background thread so dangerous behaviours surface immediately.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8046519" y="0"/>
            <a:ext cx="1584920" cy="1417320"/>
          </a:xfrm>
          <a:prstGeom prst="rect">
            <a:avLst/>
          </a:prstGeom>
          <a:solidFill>
            <a:srgbClr val="1A5A7A">
              <a:alpha val="40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Stack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443484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532120" cy="50292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 -  Node.js  -  Mongoose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074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POST /register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bcrypt-hashed passwords, 10 salt rounds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POST /facial-setup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multer upload -&gt; ffmpeg fps=3, max 50 frames per user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POST /login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bcrypt.compare; on success the Pi is told via /set-user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POST /api/alerts  ·  GET/DELETE /api/alerts/:user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real-time channel for dangerous-behaviour notifications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GET /api/behavior-log  ·  GET /api/leaderboard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history + global ranking, both queried from the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443484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49240" cy="50292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 -  React  -  Pages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4937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Live Feed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polls /frame at 10 Hz, /status every 3 s, behaviour pill colour-coded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Behaviour Dashboard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inline SVG score chart, summary cards, paginated event log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Leaderboard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medals for top 3, score-banded colours, current user highlighted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Notifications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5-second poll for fresh alerts, severity-coloured cards, clear-all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E3A52"/>
                </a:solidFill>
              </a:rPr>
              <a:t>Auth — Login / Register / Facial Setup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262626"/>
                </a:solidFill>
              </a:rPr>
              <a:t>dual login (password OR face), localStorage-persisted session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>
            <a:extLst>
              <a:ext uri="{FF2B5EF4-FFF2-40B4-BE49-F238E27FC236}">
                <a16:creationId xmlns:a16="http://schemas.microsoft.com/office/drawing/2014/main" id="{8D8D0AC1-CBE6-FAAB-E2A9-5C1CB96AF408}"/>
              </a:ext>
            </a:extLst>
          </p:cNvPr>
          <p:cNvSpPr/>
          <p:nvPr/>
        </p:nvSpPr>
        <p:spPr>
          <a:xfrm>
            <a:off x="8990009" y="217154"/>
            <a:ext cx="3001966" cy="5887996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EE1A01B-4057-EAF9-A368-7811019BE7D7}"/>
              </a:ext>
            </a:extLst>
          </p:cNvPr>
          <p:cNvSpPr/>
          <p:nvPr/>
        </p:nvSpPr>
        <p:spPr>
          <a:xfrm>
            <a:off x="8990008" y="3337561"/>
            <a:ext cx="3001965" cy="366789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-1097280" y="914400"/>
            <a:ext cx="5120640" cy="5120640"/>
          </a:xfrm>
          <a:prstGeom prst="ellipse">
            <a:avLst/>
          </a:prstGeom>
          <a:solidFill>
            <a:srgbClr val="2C6E8E">
              <a:alpha val="12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Score sync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the</a:t>
            </a:r>
            <a:endParaRPr lang="en-US" sz="4000" dirty="0"/>
          </a:p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leaderboard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AD672-7AAE-8B8B-004D-02CDD38A1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35" y="217153"/>
            <a:ext cx="4399992" cy="2416940"/>
          </a:xfrm>
          <a:prstGeom prst="roundRect">
            <a:avLst>
              <a:gd name="adj" fmla="val 4056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D9C5EC-467E-546C-E963-8D89E6459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854" y="3337560"/>
            <a:ext cx="4318073" cy="2767590"/>
          </a:xfrm>
          <a:prstGeom prst="roundRect">
            <a:avLst>
              <a:gd name="adj" fmla="val 3169"/>
            </a:avLst>
          </a:prstGeom>
        </p:spPr>
      </p:pic>
      <p:sp>
        <p:nvSpPr>
          <p:cNvPr id="8" name="Shape 8">
            <a:extLst>
              <a:ext uri="{FF2B5EF4-FFF2-40B4-BE49-F238E27FC236}">
                <a16:creationId xmlns:a16="http://schemas.microsoft.com/office/drawing/2014/main" id="{929671B4-DC4E-FA00-0808-01501713428F}"/>
              </a:ext>
            </a:extLst>
          </p:cNvPr>
          <p:cNvSpPr/>
          <p:nvPr/>
        </p:nvSpPr>
        <p:spPr>
          <a:xfrm>
            <a:off x="8990008" y="217153"/>
            <a:ext cx="3001965" cy="366789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ACA7AFFC-62A8-1D1F-20E3-276EDD54FAB9}"/>
              </a:ext>
            </a:extLst>
          </p:cNvPr>
          <p:cNvSpPr/>
          <p:nvPr/>
        </p:nvSpPr>
        <p:spPr>
          <a:xfrm>
            <a:off x="9127169" y="217153"/>
            <a:ext cx="2589209" cy="36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Pros</a:t>
            </a: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2E9BC44-9DD4-1DE8-D349-2E7D29C9B40F}"/>
              </a:ext>
            </a:extLst>
          </p:cNvPr>
          <p:cNvSpPr/>
          <p:nvPr/>
        </p:nvSpPr>
        <p:spPr>
          <a:xfrm>
            <a:off x="9218609" y="811513"/>
            <a:ext cx="2474642" cy="252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Pi keeps a JSON log on disk, durable across crashes</a:t>
            </a:r>
          </a:p>
          <a:p>
            <a:pPr>
              <a:spcAft>
                <a:spcPts val="200"/>
              </a:spcAft>
            </a:pPr>
            <a:endParaRPr lang="en-US" sz="1200" dirty="0"/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sync_score.js mirrors entries into Mongo every 10 minutes</a:t>
            </a:r>
          </a:p>
          <a:p>
            <a:pPr>
              <a:spcAft>
                <a:spcPts val="100"/>
              </a:spcAft>
            </a:pPr>
            <a:endParaRPr lang="en-US" sz="1200" dirty="0"/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Leaderboard ranks recomputed in a single bulkWrite</a:t>
            </a:r>
          </a:p>
          <a:p>
            <a:pPr>
              <a:spcAft>
                <a:spcPts val="100"/>
              </a:spcAft>
            </a:pPr>
            <a:endParaRPr lang="en-US" sz="1200" dirty="0"/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Real-time alerts channel still fires immediately for the user-facing case</a:t>
            </a:r>
          </a:p>
          <a:p>
            <a:pPr>
              <a:spcAft>
                <a:spcPts val="100"/>
              </a:spcAft>
            </a:pPr>
            <a:endParaRPr lang="en-US" sz="1200" dirty="0"/>
          </a:p>
          <a:p>
            <a:pPr>
              <a:spcAft>
                <a:spcPts val="100"/>
              </a:spcAft>
            </a:pPr>
            <a:endParaRPr lang="en-US" sz="1200" dirty="0"/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spcAft>
                <a:spcPts val="100"/>
              </a:spcAft>
            </a:pPr>
            <a:endParaRPr lang="en-US" sz="1200" dirty="0"/>
          </a:p>
          <a:p>
            <a:pPr>
              <a:spcAft>
                <a:spcPts val="100"/>
              </a:spcAft>
            </a:pPr>
            <a:endParaRPr lang="en-US" sz="1200" dirty="0"/>
          </a:p>
          <a:p>
            <a:pPr>
              <a:spcAft>
                <a:spcPts val="100"/>
              </a:spcAft>
            </a:pPr>
            <a:endParaRPr lang="en-US" sz="1200" dirty="0"/>
          </a:p>
          <a:p>
            <a:pPr>
              <a:spcAft>
                <a:spcPts val="100"/>
              </a:spcAft>
            </a:pP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0B12DA-F5EE-F175-956C-EDD292EF6E42}"/>
              </a:ext>
            </a:extLst>
          </p:cNvPr>
          <p:cNvSpPr/>
          <p:nvPr/>
        </p:nvSpPr>
        <p:spPr>
          <a:xfrm>
            <a:off x="9127167" y="3337561"/>
            <a:ext cx="2589209" cy="366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Cons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2CA2E90-43C6-8F06-57B3-0B1569F96421}"/>
              </a:ext>
            </a:extLst>
          </p:cNvPr>
          <p:cNvSpPr/>
          <p:nvPr/>
        </p:nvSpPr>
        <p:spPr>
          <a:xfrm>
            <a:off x="9127168" y="4006572"/>
            <a:ext cx="2589209" cy="143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Single point of failure, any Atlas hiccup drops driving data</a:t>
            </a:r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Constant chatter from the Pi over an unreliable home network</a:t>
            </a:r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8046519" y="0"/>
            <a:ext cx="1584920" cy="1417320"/>
          </a:xfrm>
          <a:prstGeom prst="rect">
            <a:avLst/>
          </a:prstGeom>
          <a:solidFill>
            <a:srgbClr val="1A5A7A">
              <a:alpha val="40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 &amp; Evaluation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classifier  -  held-out test accuracy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920240"/>
          <a:ext cx="57607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60020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verification  -  Siamese network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920240"/>
            <a:ext cx="5330952" cy="210312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6"/>
          <p:cNvSpPr/>
          <p:nvPr/>
        </p:nvSpPr>
        <p:spPr>
          <a:xfrm>
            <a:off x="6537960" y="2103120"/>
            <a:ext cx="2459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 0.9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537960" y="269748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0.5 threshold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34856" y="2103120"/>
            <a:ext cx="2459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 0.9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9134856" y="269748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0.5 threshold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320040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- 70/30 train/test split, 50 epochs, batch size 16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349300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Real-time verify() on the Pi 5 via picamera2 — verified / not verified overlay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206240"/>
            <a:ext cx="3639312" cy="2240280"/>
          </a:xfrm>
          <a:prstGeom prst="rect">
            <a:avLst/>
          </a:prstGeom>
          <a:solidFill>
            <a:srgbClr val="F8F9FB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3"/>
          <p:cNvSpPr/>
          <p:nvPr/>
        </p:nvSpPr>
        <p:spPr>
          <a:xfrm>
            <a:off x="457200" y="4206240"/>
            <a:ext cx="3639312" cy="914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Text 14"/>
          <p:cNvSpPr/>
          <p:nvPr/>
        </p:nvSpPr>
        <p:spPr>
          <a:xfrm>
            <a:off x="640080" y="438912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48463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 registered a fresh account on the web app.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523036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Drove a 10-minute session - observed the final score.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56144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Surfaced UX improvements to the dashboard flow.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79392" y="4206240"/>
            <a:ext cx="3639312" cy="2240280"/>
          </a:xfrm>
          <a:prstGeom prst="rect">
            <a:avLst/>
          </a:prstGeom>
          <a:solidFill>
            <a:srgbClr val="F8F9FB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Shape 19"/>
          <p:cNvSpPr/>
          <p:nvPr/>
        </p:nvSpPr>
        <p:spPr>
          <a:xfrm>
            <a:off x="4279392" y="4206240"/>
            <a:ext cx="3639312" cy="9144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0"/>
          <p:cNvSpPr/>
          <p:nvPr/>
        </p:nvSpPr>
        <p:spPr>
          <a:xfrm>
            <a:off x="4462272" y="438912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62272" y="48463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Prometheus + NetData monitoring the Pi 5.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462272" y="523036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- 30-minute run: camera server + sync_score.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462272" y="56144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Max CPU temperature reached 85 degC - throttling threshold.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462272" y="59984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Risk: thermal throttling and possible crash under load.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101584" y="4206240"/>
            <a:ext cx="3639312" cy="2240280"/>
          </a:xfrm>
          <a:prstGeom prst="rect">
            <a:avLst/>
          </a:prstGeom>
          <a:solidFill>
            <a:srgbClr val="F8F9FB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Shape 26"/>
          <p:cNvSpPr/>
          <p:nvPr/>
        </p:nvSpPr>
        <p:spPr>
          <a:xfrm>
            <a:off x="8101584" y="4206240"/>
            <a:ext cx="3639312" cy="914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7"/>
          <p:cNvSpPr/>
          <p:nvPr/>
        </p:nvSpPr>
        <p:spPr>
          <a:xfrm>
            <a:off x="8284464" y="438912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(Playwright E2E)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284464" y="48463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Playwright drives a real headless Chromium against the app.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84464" y="523036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- 33 tests across home.spec.js, auth.spec.js, leaderboard.spec.js.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284464" y="56144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- 33 / 33 pass - full suite runs in parallel in under 2 minutes.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284464" y="59984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Auto-starts the Next.js dev server; HTML report via show-report.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8046519" y="0"/>
            <a:ext cx="1584920" cy="1417320"/>
          </a:xfrm>
          <a:prstGeom prst="rect">
            <a:avLst/>
          </a:prstGeom>
          <a:solidFill>
            <a:srgbClr val="1A5A7A">
              <a:alpha val="40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11185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Challenges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11094415" cy="109728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109728" cy="10972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on a 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Naively spawning a thread per captured frame led to thread accumulation and growing latency. Fixed with a single worker, a one-slot pending-frame buffer, and an event-driven handoff, stale frames are dropped, the Pi stays under thermal limits.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11094415" cy="109728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109728" cy="1097280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frame-by-frame predictions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flipped between adjacent classes across consecutive frames, producing useless logs. Solved by requiring 5 consecutive predictions to agree before committing an event, gave a clean human-readable behaviour timeline.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709160"/>
            <a:ext cx="11094415" cy="109728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502920" y="4709160"/>
            <a:ext cx="109728" cy="10972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- dashboard recovery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could go down independently. The dashboard now shows an offline card with the exact restart command, and the Pi state machine resets cleanly on /reset the system tolerates either component being restarted mid-session.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-1097280" y="914400"/>
            <a:ext cx="5120640" cy="5120640"/>
          </a:xfrm>
          <a:prstGeom prst="ellipse">
            <a:avLst/>
          </a:prstGeom>
          <a:solidFill>
            <a:srgbClr val="2C6E8E">
              <a:alpha val="12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434840" y="1280160"/>
            <a:ext cx="7269480" cy="1600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109728" cy="160020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4709160" y="146304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out 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09160" y="1920240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driver monitoring system that uses computer vision to recognise the driver and classify driving behavior and makes safer driving rewarding through a leaderboard.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3044952"/>
            <a:ext cx="7269480" cy="1600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Shape 8"/>
          <p:cNvSpPr/>
          <p:nvPr/>
        </p:nvSpPr>
        <p:spPr>
          <a:xfrm>
            <a:off x="4434840" y="3044952"/>
            <a:ext cx="109728" cy="160020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4709160" y="3227832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3685032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working product: Pi-based camera server with a state machine, Express API, MongoDB-backed dashboard, dual-mode authentication, real-time alerts, persistent leaderboard.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4809744"/>
            <a:ext cx="7269480" cy="1600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4DCE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4434840" y="4809744"/>
            <a:ext cx="109728" cy="160020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4709160" y="4992624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5449824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/>
              <a:t>How model choices show up in production: debouncing, throttling, scoped verification. What it takes to make an embedded device and a full web stack work together reliably over a flaky network.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6705432" y="0"/>
            <a:ext cx="2194505" cy="6858000"/>
          </a:xfrm>
          <a:prstGeom prst="rect">
            <a:avLst/>
          </a:prstGeom>
          <a:solidFill>
            <a:srgbClr val="1A5A7A">
              <a:alpha val="25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6095848" y="-1714500"/>
            <a:ext cx="6705432" cy="9601200"/>
          </a:xfrm>
          <a:prstGeom prst="ellipse">
            <a:avLst/>
          </a:prstGeom>
          <a:solidFill>
            <a:srgbClr val="2C6E8E">
              <a:alpha val="12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 for listening!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926079"/>
            <a:ext cx="11094415" cy="2551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Video Demo: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hlinkClick r:id="rId3"/>
              </a:rPr>
              <a:t>https://youtu.be/GTDBRtyNb0g</a:t>
            </a:r>
            <a:endParaRPr lang="en-US" sz="1600" dirty="0">
              <a:solidFill>
                <a:srgbClr val="FFFFFF"/>
              </a:solidFill>
            </a:endParaRP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GitHub: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hlinkClick r:id="rId4"/>
              </a:rPr>
              <a:t>https://github.com/Nasir-AhmadZ/Dashboard</a:t>
            </a:r>
            <a:endParaRPr lang="en-US" sz="1600" dirty="0">
              <a:solidFill>
                <a:srgbClr val="000000"/>
              </a:solidFill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hlinkClick r:id="rId5"/>
              </a:rPr>
              <a:t>https://github.com/Nasir-AhmadZ/FacialVerificationML</a:t>
            </a:r>
            <a:endParaRPr lang="en-US" sz="1600" dirty="0">
              <a:solidFill>
                <a:srgbClr val="000000"/>
              </a:solidFill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hlinkClick r:id="rId6"/>
              </a:rPr>
              <a:t>https://github.com/Nasir-AhmadZ/Driver-Analysis-ML-Model</a:t>
            </a:r>
            <a:endParaRPr lang="en-US" sz="1600" dirty="0">
              <a:solidFill>
                <a:srgbClr val="000000"/>
              </a:solidFill>
            </a:endParaRPr>
          </a:p>
          <a:p>
            <a:pPr algn="ctr"/>
            <a:endParaRPr lang="en-US" sz="1600" dirty="0">
              <a:solidFill>
                <a:srgbClr val="000000"/>
              </a:solidFill>
            </a:endParaRPr>
          </a:p>
          <a:p>
            <a:pPr algn="ctr"/>
            <a:endParaRPr lang="en-US" sz="1600" dirty="0">
              <a:solidFill>
                <a:srgbClr val="000000"/>
              </a:solidFill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i="1" dirty="0">
              <a:solidFill>
                <a:srgbClr val="FFFFFF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5477346"/>
            <a:ext cx="9448495" cy="101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FFFFFF"/>
                </a:solidFill>
              </a:rPr>
              <a:t>Supervisor: Ben Kinsella  </a:t>
            </a:r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FFFFFF"/>
                </a:solidFill>
              </a:rPr>
              <a:t>  Atlantic Technological University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1149</Words>
  <Application>Microsoft Office PowerPoint</Application>
  <PresentationFormat>Widescreen</PresentationFormat>
  <Paragraphs>181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NASIR AHMAD - STUDENT</dc:creator>
  <cp:lastModifiedBy>NASIR AHMAD - STUDENT</cp:lastModifiedBy>
  <cp:revision>1</cp:revision>
  <dcterms:created xsi:type="dcterms:W3CDTF">2026-04-27T20:00:48Z</dcterms:created>
  <dcterms:modified xsi:type="dcterms:W3CDTF">2026-04-27T20:03:26Z</dcterms:modified>
</cp:coreProperties>
</file>